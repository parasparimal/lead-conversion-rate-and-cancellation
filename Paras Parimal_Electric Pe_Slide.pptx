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77DE4-019D-110F-B59B-9A848CAA0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DC2AE-B98E-F37A-53A2-0DB53D844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E4A8A-BA43-B8BA-8199-BF2DCFA6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B889-1F6D-49BC-BA85-BAFDC0D3A53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AE9DB-104C-DD1C-355A-CB049AA7B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0DABE-DA28-B20B-9D0E-A98D94DC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E774-76FE-42BC-9950-8C7E7630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488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B73CB-45C2-9CFE-EA60-D3CACB6D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4A81C-AB71-63F8-A883-DCB344A7A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119D2-675A-9E74-86C8-A14F956C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B889-1F6D-49BC-BA85-BAFDC0D3A53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BD3B5-89B8-3DE0-8DE7-7239EBAB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7D04D-D69D-FEC4-D66F-2FED8622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E774-76FE-42BC-9950-8C7E7630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540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6E2A4-7EBB-5C24-685E-DF91661E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C028B-229C-B73C-3840-F05B99E76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D12F2-B4D3-1E96-5E70-9FFFE27B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B889-1F6D-49BC-BA85-BAFDC0D3A53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129CF-492C-E441-0E1A-51C4ECCA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E6384-F516-0FE0-C2EF-FE713D0E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E774-76FE-42BC-9950-8C7E7630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98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6016-6AAD-62AE-85F5-49058647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0C167-B590-8358-6480-FC8588B02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547E5-0F71-8A7E-286F-696B8BBE3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3BD88-7EEC-7BEB-E28C-41E1CBDD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B889-1F6D-49BC-BA85-BAFDC0D3A53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B23BC-A22A-1436-4B02-888338E76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571A3-FCE5-3AFD-BC14-42A62C9B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E774-76FE-42BC-9950-8C7E7630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73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AC10F-7D7F-89BB-86CF-D3D35A34E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DADC3-A370-8A0D-C2F1-38A0BAC36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AB600-BCDF-EA8B-6FD9-A665DB66B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E9A88-FB3E-6ADA-227C-F8430FC9D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4F7D8-091A-DB7F-ADF8-C0C06374DC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FE4700-4390-2DA0-D340-2148932ED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B889-1F6D-49BC-BA85-BAFDC0D3A53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58F3EC-FA3E-62C9-F203-612B9191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4240CD-DCEF-B8B6-43F3-9F2781D4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E774-76FE-42BC-9950-8C7E7630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49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55B79-7BD2-D32A-7006-99F5DE38D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4AF3E-9932-3085-69C5-BD287EDAD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B889-1F6D-49BC-BA85-BAFDC0D3A53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81095-3CE7-4C59-A9A2-C47A3B11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4C130-E72A-B1D9-5C91-92A6B151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E774-76FE-42BC-9950-8C7E7630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29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46A58-C7B0-EDE7-F063-63E2E74B3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B889-1F6D-49BC-BA85-BAFDC0D3A53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547452-80E5-8DEA-3345-79A206DA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2D9CE-3E57-A626-56F6-B5355360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E774-76FE-42BC-9950-8C7E7630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364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01B83-8E63-DA04-19ED-862999D54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F579F-EB1B-0F09-D81F-1977AC37F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3B481-F412-D2DD-F88A-3E0FD138D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95F93-1E64-8F00-57B7-AF5622754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B889-1F6D-49BC-BA85-BAFDC0D3A53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2FF8C-99A6-33D1-0A90-65077521E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F518D-9D1E-90B2-1555-FEAB19E8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E774-76FE-42BC-9950-8C7E7630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7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78C73-A3F6-8074-2E76-6B08C6C50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C8B3AF-D27D-572D-0859-A8009A454A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2644B-535D-6EDA-0A35-71C9CC8D1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4008-AA72-4E3F-691E-9672A76A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B889-1F6D-49BC-BA85-BAFDC0D3A53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270F2-C7FD-9102-3CE0-7DE8C51D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E69F6-0A39-14C6-94BB-AA70163E0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E774-76FE-42BC-9950-8C7E7630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681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6FF1-F790-EFD9-AF29-D2A46AF53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15AE0-66AC-5BF5-0AE1-3B66DB6D8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DABE2-F43B-4A09-BA85-C2CBC0CE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B889-1F6D-49BC-BA85-BAFDC0D3A53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E344D-6080-6639-A335-AA780B754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50ABA-355D-8ADB-AB20-9088365DD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E774-76FE-42BC-9950-8C7E7630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62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565977-FE3F-FBDF-2B0E-46178CA98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DC3F7-5B3A-81AA-14F2-F498CC64F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1DFB2-0D93-ADDA-AA33-5C30B8EE5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B889-1F6D-49BC-BA85-BAFDC0D3A53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115FA-E534-00FC-71DE-8CE2307E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079C3-8DE0-D305-7FA4-2A04B35DA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E774-76FE-42BC-9950-8C7E7630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44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27BD7C-8C60-AC23-2B86-95D46869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0777A-DC70-6CBE-6264-C8359A8D8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51F07-DAC3-0054-E0FB-A7F3389B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B0B889-1F6D-49BC-BA85-BAFDC0D3A53E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713BC-9732-6B57-B669-07A84CA35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0F27F-D764-378A-0E70-724F31388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7E774-76FE-42BC-9950-8C7E7630C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95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E2CC08-488E-64E7-21E2-467EE6397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315" y="147483"/>
            <a:ext cx="11906865" cy="6607277"/>
          </a:xfrm>
        </p:spPr>
        <p:txBody>
          <a:bodyPr>
            <a:normAutofit/>
          </a:bodyPr>
          <a:lstStyle/>
          <a:p>
            <a:r>
              <a:rPr lang="en-US" sz="1800" dirty="0"/>
              <a:t>Question 3:  </a:t>
            </a:r>
            <a:r>
              <a:rPr lang="en-US" sz="1800" i="1" u="sng" dirty="0"/>
              <a:t>Storytelling and </a:t>
            </a:r>
            <a:r>
              <a:rPr lang="en-IN" sz="1800" i="1" u="sng" dirty="0"/>
              <a:t>Recommendations </a:t>
            </a:r>
            <a:endParaRPr lang="en-IN" sz="1600" i="1" u="sng" dirty="0"/>
          </a:p>
          <a:p>
            <a:pPr algn="just"/>
            <a:r>
              <a:rPr lang="en-IN" sz="1600" i="1" u="sng" dirty="0"/>
              <a:t>Data Summary</a:t>
            </a:r>
            <a:r>
              <a:rPr lang="en-IN" sz="1600" i="1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dirty="0"/>
              <a:t>Overall lead-to-delivery conversion is </a:t>
            </a:r>
            <a:r>
              <a:rPr lang="en-US" sz="1400" b="1" dirty="0"/>
              <a:t>~81–82% </a:t>
            </a:r>
            <a:r>
              <a:rPr lang="en-US" sz="1400" dirty="0"/>
              <a:t>across all stores. Conversion from Pre-booking → Booking → Delivery is consistently </a:t>
            </a:r>
            <a:r>
              <a:rPr lang="en-US" sz="1400" b="1" dirty="0"/>
              <a:t>100%</a:t>
            </a:r>
            <a:r>
              <a:rPr lang="en-US" sz="14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dirty="0"/>
              <a:t>The products which are pre-booked are constantly get delivered maintaining 100% conversion from pre-booking stage.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dirty="0"/>
              <a:t>Average TAT (Lead to Pre-Booking): </a:t>
            </a:r>
            <a:r>
              <a:rPr lang="en-US" sz="1400" b="1" dirty="0"/>
              <a:t>3.06 days</a:t>
            </a:r>
            <a:r>
              <a:rPr lang="en-US" sz="1400" dirty="0"/>
              <a:t>, Average TAT (Pre-Booking to Booking): </a:t>
            </a:r>
            <a:r>
              <a:rPr lang="en-US" sz="1400" b="1" dirty="0"/>
              <a:t>3.07 days </a:t>
            </a:r>
            <a:r>
              <a:rPr lang="en-US" sz="1400" dirty="0"/>
              <a:t>and Average TAT (Booking to Delivery): </a:t>
            </a:r>
            <a:r>
              <a:rPr lang="en-US" sz="1400" b="1" dirty="0"/>
              <a:t>4.46 days.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IN" sz="1400" b="1" dirty="0"/>
              <a:t>Leads &amp; Conversions:</a:t>
            </a:r>
            <a:r>
              <a:rPr lang="en-IN" sz="1400" dirty="0"/>
              <a:t> 1000 total leads — Hot: 303 (30%), Warm: 509 (51%), Cold: 188 (19%). </a:t>
            </a:r>
            <a:r>
              <a:rPr lang="en-IN" sz="1400" b="1" dirty="0"/>
              <a:t>Cancellations:</a:t>
            </a:r>
            <a:r>
              <a:rPr lang="en-IN" sz="1400" dirty="0"/>
              <a:t> 271 (27%), </a:t>
            </a:r>
            <a:r>
              <a:rPr lang="en-IN" sz="1400" b="1" dirty="0"/>
              <a:t>Deliveries:</a:t>
            </a:r>
            <a:r>
              <a:rPr lang="en-IN" sz="1400" dirty="0"/>
              <a:t> 812 (81%). </a:t>
            </a:r>
            <a:r>
              <a:rPr lang="en-IN" sz="1400" b="1" dirty="0"/>
              <a:t>Stores:</a:t>
            </a:r>
            <a:r>
              <a:rPr lang="en-IN" sz="1400" dirty="0"/>
              <a:t> Bangalore, Chennai, Delhi, Mumbai.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dirty="0"/>
              <a:t>Average store cancellations are </a:t>
            </a:r>
            <a:r>
              <a:rPr lang="en-US" sz="1400" b="1" dirty="0"/>
              <a:t>~27%, highest in Delhi and lowest in Mumbai</a:t>
            </a:r>
            <a:r>
              <a:rPr lang="en-US" sz="1400" dirty="0"/>
              <a:t>. Top reasons: changed mind, model unavailability, financing, price sensitivity, and others.</a:t>
            </a:r>
            <a:endParaRPr lang="en-IN" sz="1400" dirty="0"/>
          </a:p>
          <a:p>
            <a:pPr algn="just"/>
            <a:endParaRPr lang="en-IN" sz="1400" dirty="0"/>
          </a:p>
          <a:p>
            <a:pPr algn="just"/>
            <a:endParaRPr lang="en-IN" sz="1400" dirty="0"/>
          </a:p>
          <a:p>
            <a:pPr algn="just"/>
            <a:endParaRPr lang="en-IN" sz="1400" dirty="0"/>
          </a:p>
          <a:p>
            <a:pPr algn="just"/>
            <a:endParaRPr lang="en-IN" sz="1400" dirty="0"/>
          </a:p>
          <a:p>
            <a:pPr algn="just"/>
            <a:endParaRPr lang="en-IN" sz="1400" dirty="0"/>
          </a:p>
          <a:p>
            <a:pPr algn="just"/>
            <a:endParaRPr lang="en-IN" sz="1400" dirty="0"/>
          </a:p>
          <a:p>
            <a:pPr algn="just"/>
            <a:r>
              <a:rPr lang="en-IN" sz="1600" i="1" u="sng" dirty="0"/>
              <a:t>Key Insights from analysis</a:t>
            </a:r>
            <a:r>
              <a:rPr lang="en-IN" sz="1600" i="1" dirty="0"/>
              <a:t>: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/>
              <a:t>Once leads reach the pre-booking stage, they convert 100% to delivery, showing strong lead nurturing. About 18–19% of leads drop before pre-booking, indicating a need to improve initial engagement. Conversion rates are similar across stores (81–82%), with Chennai and Mumbai slightly ahead, suggesting consistent but improvable sales processes.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400" dirty="0"/>
              <a:t>Pre-booking and booking complete in ~3 days, reflecting efficient lead handling. Delivery averages 4.5 days; cutting it by 0.5 days—especially in Mumbai—can boost customer satisfaction by ~10%.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811758-2692-4513-8D79-E97B8E214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710498"/>
              </p:ext>
            </p:extLst>
          </p:nvPr>
        </p:nvGraphicFramePr>
        <p:xfrm>
          <a:off x="2566547" y="3200392"/>
          <a:ext cx="7531510" cy="1558097"/>
        </p:xfrm>
        <a:graphic>
          <a:graphicData uri="http://schemas.openxmlformats.org/drawingml/2006/table">
            <a:tbl>
              <a:tblPr/>
              <a:tblGrid>
                <a:gridCol w="1506302">
                  <a:extLst>
                    <a:ext uri="{9D8B030D-6E8A-4147-A177-3AD203B41FA5}">
                      <a16:colId xmlns:a16="http://schemas.microsoft.com/office/drawing/2014/main" val="1155841290"/>
                    </a:ext>
                  </a:extLst>
                </a:gridCol>
                <a:gridCol w="1506302">
                  <a:extLst>
                    <a:ext uri="{9D8B030D-6E8A-4147-A177-3AD203B41FA5}">
                      <a16:colId xmlns:a16="http://schemas.microsoft.com/office/drawing/2014/main" val="4105444280"/>
                    </a:ext>
                  </a:extLst>
                </a:gridCol>
                <a:gridCol w="1506302">
                  <a:extLst>
                    <a:ext uri="{9D8B030D-6E8A-4147-A177-3AD203B41FA5}">
                      <a16:colId xmlns:a16="http://schemas.microsoft.com/office/drawing/2014/main" val="2539208185"/>
                    </a:ext>
                  </a:extLst>
                </a:gridCol>
                <a:gridCol w="1506302">
                  <a:extLst>
                    <a:ext uri="{9D8B030D-6E8A-4147-A177-3AD203B41FA5}">
                      <a16:colId xmlns:a16="http://schemas.microsoft.com/office/drawing/2014/main" val="2516399970"/>
                    </a:ext>
                  </a:extLst>
                </a:gridCol>
                <a:gridCol w="1506302">
                  <a:extLst>
                    <a:ext uri="{9D8B030D-6E8A-4147-A177-3AD203B41FA5}">
                      <a16:colId xmlns:a16="http://schemas.microsoft.com/office/drawing/2014/main" val="1127316669"/>
                    </a:ext>
                  </a:extLst>
                </a:gridCol>
              </a:tblGrid>
              <a:tr h="2633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i="1" u="none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i="1" u="none" dirty="0"/>
                        <a:t>Bangalore MBC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i="1" u="none" dirty="0"/>
                        <a:t>Delhi MBC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i="1" u="none" dirty="0"/>
                        <a:t>Mumbai MBC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i="1" u="none" dirty="0"/>
                        <a:t>Chennai MBC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984421"/>
                  </a:ext>
                </a:extLst>
              </a:tr>
              <a:tr h="2633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i="1" u="none"/>
                        <a:t>Total Leads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 dirty="0"/>
                        <a:t>263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/>
                        <a:t>263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/>
                        <a:t>262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/>
                        <a:t>212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486220"/>
                  </a:ext>
                </a:extLst>
              </a:tr>
              <a:tr h="4608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i="1" u="none"/>
                        <a:t>Net Promoter Score (NPS)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 dirty="0"/>
                        <a:t>-58.12%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 dirty="0"/>
                        <a:t>-50.00%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/>
                        <a:t>-57.79%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/>
                        <a:t>-46.41%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221215"/>
                  </a:ext>
                </a:extLst>
              </a:tr>
              <a:tr h="2633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i="1" u="none"/>
                        <a:t>Promoters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/>
                        <a:t>12.0%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 dirty="0"/>
                        <a:t>16.1%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/>
                        <a:t>11.6%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/>
                        <a:t>18.3%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219169"/>
                  </a:ext>
                </a:extLst>
              </a:tr>
              <a:tr h="2633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i="1" u="none" dirty="0"/>
                        <a:t>Detractors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 dirty="0"/>
                        <a:t>70.2%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/>
                        <a:t>66.1%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 dirty="0"/>
                        <a:t>69.3%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i="1" u="none" dirty="0"/>
                        <a:t>64.7%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88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89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A217C-2DA3-22B3-8202-5A907B7E1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658" y="94390"/>
            <a:ext cx="11780684" cy="65187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US" sz="1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/>
              <a:t>All stores have </a:t>
            </a:r>
            <a:r>
              <a:rPr lang="en-US" sz="1400" b="1" dirty="0"/>
              <a:t>negative NPS (–46% to –58%), </a:t>
            </a:r>
            <a:r>
              <a:rPr lang="en-US" sz="1400" dirty="0"/>
              <a:t>showing </a:t>
            </a:r>
            <a:r>
              <a:rPr lang="en-US" sz="1400" b="1" dirty="0"/>
              <a:t>service and delivery dissatisfaction</a:t>
            </a:r>
            <a:r>
              <a:rPr lang="en-US" sz="1400" dirty="0"/>
              <a:t>. Strong lead interest exists, but weak conversion and retention cause missed sales and higher cancellations.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dirty="0"/>
              <a:t>Delhi MBC has the highest cancellations (29%) due to model unavailability, price, and changed minds, highlighting inventory and conversion issues. Mumbai MBC has the lowest (24%), showing that better sales execution and model availability can reduce cancellations elsewhere.</a:t>
            </a:r>
            <a:endParaRPr lang="en-IN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IN" sz="1600" i="1" u="sng" dirty="0"/>
              <a:t>Bottlenecks &amp; Operational Gaps</a:t>
            </a:r>
            <a:r>
              <a:rPr lang="en-IN" sz="1600" i="1" dirty="0"/>
              <a:t>:</a:t>
            </a:r>
            <a:endParaRPr lang="en-US" sz="1600" i="1" u="sng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D3D58A-9617-028F-035F-788B22657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581184"/>
              </p:ext>
            </p:extLst>
          </p:nvPr>
        </p:nvGraphicFramePr>
        <p:xfrm>
          <a:off x="1107768" y="2465705"/>
          <a:ext cx="9956799" cy="4035005"/>
        </p:xfrm>
        <a:graphic>
          <a:graphicData uri="http://schemas.openxmlformats.org/drawingml/2006/table">
            <a:tbl>
              <a:tblPr/>
              <a:tblGrid>
                <a:gridCol w="3318933">
                  <a:extLst>
                    <a:ext uri="{9D8B030D-6E8A-4147-A177-3AD203B41FA5}">
                      <a16:colId xmlns:a16="http://schemas.microsoft.com/office/drawing/2014/main" val="612471619"/>
                    </a:ext>
                  </a:extLst>
                </a:gridCol>
                <a:gridCol w="3318933">
                  <a:extLst>
                    <a:ext uri="{9D8B030D-6E8A-4147-A177-3AD203B41FA5}">
                      <a16:colId xmlns:a16="http://schemas.microsoft.com/office/drawing/2014/main" val="87123245"/>
                    </a:ext>
                  </a:extLst>
                </a:gridCol>
                <a:gridCol w="3318933">
                  <a:extLst>
                    <a:ext uri="{9D8B030D-6E8A-4147-A177-3AD203B41FA5}">
                      <a16:colId xmlns:a16="http://schemas.microsoft.com/office/drawing/2014/main" val="206632424"/>
                    </a:ext>
                  </a:extLst>
                </a:gridCol>
              </a:tblGrid>
              <a:tr h="2775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i="1" dirty="0"/>
                        <a:t>Area</a:t>
                      </a:r>
                      <a:endParaRPr lang="en-IN" sz="1400" i="1" dirty="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i="1" dirty="0"/>
                        <a:t>Main Gaps Found</a:t>
                      </a:r>
                      <a:endParaRPr lang="en-IN" sz="1400" i="1" dirty="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i="1" dirty="0"/>
                        <a:t>Impact on Business</a:t>
                      </a:r>
                      <a:endParaRPr lang="en-IN" sz="1400" i="1" dirty="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582483"/>
                  </a:ext>
                </a:extLst>
              </a:tr>
              <a:tr h="9021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i="1" dirty="0"/>
                        <a:t>Lead Conversion</a:t>
                      </a:r>
                      <a:endParaRPr lang="en-IN" sz="1400" i="1" dirty="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i="1" dirty="0"/>
                        <a:t>Not enough early follow-ups, poor use of lead priority (hot/warm/cold), and no system to re-engage dropped leads.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i="1"/>
                        <a:t>Fewer leads converting, missed sales chances, and wasted team effort.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711296"/>
                  </a:ext>
                </a:extLst>
              </a:tr>
              <a:tr h="6939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i="1" dirty="0"/>
                        <a:t>Delivery Time (TAT)</a:t>
                      </a:r>
                      <a:endParaRPr lang="en-IN" sz="1400" i="1" dirty="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i="1" dirty="0"/>
                        <a:t>Deliveries are slow in some stores, especially Mumbai, and there’s no set time target or tracking system.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i="1" dirty="0"/>
                        <a:t>Late deliveries hurt customer happiness and trust.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017128"/>
                  </a:ext>
                </a:extLst>
              </a:tr>
              <a:tr h="6939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i="1" dirty="0"/>
                        <a:t>Service Follow-ups</a:t>
                      </a:r>
                      <a:endParaRPr lang="en-IN" sz="1400" i="1" dirty="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i="1"/>
                        <a:t>No proper system for checking in with customers after delivery, and feedback isn’t tracked well.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i="1" dirty="0"/>
                        <a:t>Missed chances to fix small issues and build loyalty.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295111"/>
                  </a:ext>
                </a:extLst>
              </a:tr>
              <a:tr h="6939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i="1" dirty="0"/>
                        <a:t>Cancellations</a:t>
                      </a:r>
                      <a:endParaRPr lang="en-IN" sz="1400" i="1" dirty="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i="1"/>
                        <a:t>No clear record of why leads cancel, and customers aren’t contacted before dropping off.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i="1" dirty="0"/>
                        <a:t>More cancellations and lost customers.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756936"/>
                  </a:ext>
                </a:extLst>
              </a:tr>
              <a:tr h="6939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i="1" dirty="0"/>
                        <a:t>Customer Satisfaction</a:t>
                      </a:r>
                      <a:endParaRPr lang="en-IN" sz="1400" i="1" dirty="0"/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i="1"/>
                        <a:t>NPS isn’t tracked regularly, and staff aren’t trained for personalized customer handling.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400" i="1" dirty="0"/>
                        <a:t>Customers feel less valued and may not return or recommend.</a:t>
                      </a:r>
                    </a:p>
                  </a:txBody>
                  <a:tcPr marL="76339" marR="76339" marT="38170" marB="381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162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43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602B9-3210-6E5F-CB67-0E7A460EA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240" y="142240"/>
            <a:ext cx="11897360" cy="656336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i="1" u="sng" dirty="0"/>
          </a:p>
          <a:p>
            <a:pPr marL="0" indent="0">
              <a:buNone/>
            </a:pPr>
            <a:endParaRPr lang="en-US" sz="1600" i="1" u="sng" dirty="0"/>
          </a:p>
          <a:p>
            <a:pPr marL="0" indent="0">
              <a:buNone/>
            </a:pPr>
            <a:endParaRPr lang="en-US" sz="1600" i="1" u="sng" dirty="0"/>
          </a:p>
          <a:p>
            <a:pPr marL="0" indent="0">
              <a:buNone/>
            </a:pPr>
            <a:endParaRPr lang="en-US" sz="1600" i="1" u="sng" dirty="0"/>
          </a:p>
          <a:p>
            <a:pPr marL="0" indent="0">
              <a:buNone/>
            </a:pPr>
            <a:endParaRPr lang="en-US" sz="1600" i="1" u="sng" dirty="0"/>
          </a:p>
          <a:p>
            <a:pPr marL="0" indent="0">
              <a:buNone/>
            </a:pPr>
            <a:endParaRPr lang="en-US" sz="1600" i="1" u="sng" dirty="0"/>
          </a:p>
          <a:p>
            <a:pPr marL="0" indent="0">
              <a:buNone/>
            </a:pPr>
            <a:endParaRPr lang="en-US" sz="1600" i="1" u="sng" dirty="0"/>
          </a:p>
          <a:p>
            <a:pPr marL="0" indent="0">
              <a:buNone/>
            </a:pPr>
            <a:endParaRPr lang="en-US" sz="1600" i="1" u="sng" dirty="0"/>
          </a:p>
          <a:p>
            <a:pPr marL="0" indent="0">
              <a:buNone/>
            </a:pPr>
            <a:endParaRPr lang="en-US" sz="1600" i="1" u="sng" dirty="0"/>
          </a:p>
          <a:p>
            <a:pPr marL="0" indent="0">
              <a:buNone/>
            </a:pPr>
            <a:endParaRPr lang="en-US" sz="1600" i="1" u="sng" dirty="0"/>
          </a:p>
          <a:p>
            <a:pPr marL="0" indent="0">
              <a:buNone/>
            </a:pPr>
            <a:endParaRPr lang="en-US" sz="1600" i="1" u="sng" dirty="0"/>
          </a:p>
          <a:p>
            <a:pPr marL="0" indent="0">
              <a:buNone/>
            </a:pPr>
            <a:endParaRPr lang="en-US" sz="1600" i="1" u="sng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E6F6B-1907-CCED-5838-8BA99B1A34B6}"/>
              </a:ext>
            </a:extLst>
          </p:cNvPr>
          <p:cNvSpPr txBox="1"/>
          <p:nvPr/>
        </p:nvSpPr>
        <p:spPr>
          <a:xfrm>
            <a:off x="152400" y="152400"/>
            <a:ext cx="725424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IN" sz="1600" i="1" u="sng" dirty="0"/>
              <a:t>Recommendations</a:t>
            </a:r>
            <a:r>
              <a:rPr lang="en-IN" sz="1600" i="1" dirty="0"/>
              <a:t>: </a:t>
            </a:r>
            <a:endParaRPr lang="en-IN" sz="1400" i="1" dirty="0"/>
          </a:p>
          <a:p>
            <a:pPr marL="0" indent="0" algn="just">
              <a:buNone/>
            </a:pPr>
            <a:endParaRPr lang="en-IN" sz="1400" i="1" dirty="0"/>
          </a:p>
          <a:p>
            <a:pPr marL="0" indent="0" algn="just">
              <a:buNone/>
            </a:pPr>
            <a:r>
              <a:rPr lang="en-US" sz="1400" b="1" dirty="0"/>
              <a:t>1. Lead Conversion Improvement: 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Follow up quickly: Contact new leads within 24 hours through calls or messages.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Focus on good leads: Spend more time on hot and warm leads who are more likely to buy.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Reconnect with old leads: Send reminder messages or offers through WhatsApp or email.</a:t>
            </a:r>
          </a:p>
          <a:p>
            <a:pPr marL="263525" algn="just"/>
            <a:endParaRPr lang="en-US" sz="1400" dirty="0"/>
          </a:p>
          <a:p>
            <a:pPr marL="0" indent="0" algn="just">
              <a:buNone/>
            </a:pPr>
            <a:r>
              <a:rPr lang="en-US" sz="1400" b="1" dirty="0"/>
              <a:t>2. Delivery TAT Optimization: 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Fix delivery delays: Check and improve delivery planning, especially for the Mumbai store.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Track performance: Make a small dashboard to see how long each store takes for delivery.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Set delivery targets: Aim to finish deliveries within 3.5 days after booking.</a:t>
            </a:r>
          </a:p>
          <a:p>
            <a:pPr marL="263525" algn="just"/>
            <a:endParaRPr lang="en-US" sz="1400" dirty="0"/>
          </a:p>
          <a:p>
            <a:pPr marL="0" indent="0" algn="just">
              <a:buNone/>
            </a:pPr>
            <a:r>
              <a:rPr lang="en-US" sz="1400" b="1" dirty="0"/>
              <a:t>3. Service Follow-ups: 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Call after delivery: Check with customers 3–5 days after delivery to confirm everything’s okay.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Automate follow-ups: Use a simple CRM or reminder system for regular customer callbacks.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Use feedback: Note customer suggestions or complaints to improve next time.</a:t>
            </a:r>
          </a:p>
          <a:p>
            <a:pPr marL="263525" algn="just"/>
            <a:endParaRPr lang="en-US" sz="1400" dirty="0"/>
          </a:p>
          <a:p>
            <a:pPr marL="0" indent="0" algn="just">
              <a:buNone/>
            </a:pPr>
            <a:r>
              <a:rPr lang="en-US" sz="1400" b="1" dirty="0"/>
              <a:t>4. Cancellation Reduction: 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Find reasons for cancellations: Look at why people cancel before booking.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Offer flexible choices: Give discounts, easy payment plans, or test drives to keep customers interested.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Keep customers updated: Send regular updates so they don’t lose interest or confidence.</a:t>
            </a:r>
          </a:p>
          <a:p>
            <a:pPr marL="263525" algn="just"/>
            <a:endParaRPr lang="en-US" sz="1400" dirty="0"/>
          </a:p>
          <a:p>
            <a:pPr marL="0" indent="0" algn="just">
              <a:buNone/>
            </a:pPr>
            <a:r>
              <a:rPr lang="en-US" sz="1400" b="1" dirty="0"/>
              <a:t>5. Customer Satisfaction Enhancement: 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Check ratings often: Track NPS or customer ratings for each store every month.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Fix unhappy cases fast: Solve issues quickly so customers feel valued.</a:t>
            </a:r>
          </a:p>
          <a:p>
            <a:pPr marL="538163" indent="-274638" algn="just">
              <a:buFont typeface="Wingdings" panose="05000000000000000000" pitchFamily="2" charset="2"/>
              <a:buChar char="Ø"/>
            </a:pPr>
            <a:r>
              <a:rPr lang="en-US" sz="1400" dirty="0"/>
              <a:t>Train staff well: Help employees talk politely and personally with customers.</a:t>
            </a:r>
          </a:p>
          <a:p>
            <a:pPr marL="263525" algn="just"/>
            <a:endParaRPr lang="en-US" sz="1400" dirty="0"/>
          </a:p>
          <a:p>
            <a:pPr marL="263525" algn="just"/>
            <a:endParaRPr lang="en-US" sz="1400" dirty="0"/>
          </a:p>
          <a:p>
            <a:pPr marL="263525" algn="just"/>
            <a:endParaRPr lang="en-IN" sz="1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EC3FD96-D0E9-70A3-6606-464F925D37E9}"/>
              </a:ext>
            </a:extLst>
          </p:cNvPr>
          <p:cNvSpPr txBox="1">
            <a:spLocks/>
          </p:cNvSpPr>
          <p:nvPr/>
        </p:nvSpPr>
        <p:spPr>
          <a:xfrm>
            <a:off x="7762240" y="259238"/>
            <a:ext cx="4114800" cy="59636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sz="1600" i="1" u="sng" dirty="0"/>
              <a:t>Impacts</a:t>
            </a:r>
            <a:r>
              <a:rPr lang="en-US" sz="1600" dirty="0"/>
              <a:t>:</a:t>
            </a:r>
          </a:p>
          <a:p>
            <a:pPr marL="342900" indent="-342900" algn="just">
              <a:buAutoNum type="arabicPeriod"/>
            </a:pPr>
            <a:r>
              <a:rPr lang="en-US" sz="1400" b="1" dirty="0"/>
              <a:t>Higher Conversions:</a:t>
            </a:r>
            <a:r>
              <a:rPr lang="en-US" sz="1400" dirty="0"/>
              <a:t> Faster follow-ups and lead re-engagement can improve lead-to-delivery rates by 10–12%.</a:t>
            </a:r>
          </a:p>
          <a:p>
            <a:pPr marL="342900" indent="-342900" algn="just">
              <a:buAutoNum type="arabicPeriod"/>
            </a:pPr>
            <a:r>
              <a:rPr lang="en-US" sz="1400" b="1" dirty="0"/>
              <a:t>Faster Deliveries:</a:t>
            </a:r>
            <a:r>
              <a:rPr lang="en-US" sz="1400" dirty="0"/>
              <a:t> Streamlined logistics and clear targets can cut delivery time by up to a day.</a:t>
            </a:r>
          </a:p>
          <a:p>
            <a:pPr marL="342900" indent="-342900" algn="just">
              <a:buAutoNum type="arabicPeriod"/>
            </a:pPr>
            <a:r>
              <a:rPr lang="en-US" sz="1400" b="1" dirty="0"/>
              <a:t>Fewer Cancellations:</a:t>
            </a:r>
            <a:r>
              <a:rPr lang="en-US" sz="1400" dirty="0"/>
              <a:t> Addressing drop-off reasons and offering flexible bookings can reduce cancellations by ~20%.</a:t>
            </a:r>
          </a:p>
          <a:p>
            <a:pPr marL="342900" indent="-342900" algn="just">
              <a:buAutoNum type="arabicPeriod"/>
            </a:pPr>
            <a:r>
              <a:rPr lang="en-US" sz="1400" b="1" dirty="0"/>
              <a:t>Happier Customers:</a:t>
            </a:r>
            <a:r>
              <a:rPr lang="en-US" sz="1400" dirty="0"/>
              <a:t> Quick issue resolution and post-delivery follow-ups can boost satisfaction and NPS.</a:t>
            </a:r>
          </a:p>
          <a:p>
            <a:pPr marL="342900" indent="-342900" algn="just">
              <a:buAutoNum type="arabicPeriod"/>
            </a:pPr>
            <a:r>
              <a:rPr lang="en-US" sz="1400" b="1" dirty="0"/>
              <a:t>Stronger Reputation:</a:t>
            </a:r>
            <a:r>
              <a:rPr lang="en-US" sz="1400" dirty="0"/>
              <a:t> Consistent service, faster delivery, and better communication build trust and brand loyalty.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02049F-DA01-E998-CB38-1891826A8056}"/>
              </a:ext>
            </a:extLst>
          </p:cNvPr>
          <p:cNvCxnSpPr>
            <a:cxnSpLocks/>
          </p:cNvCxnSpPr>
          <p:nvPr/>
        </p:nvCxnSpPr>
        <p:spPr>
          <a:xfrm>
            <a:off x="7528560" y="0"/>
            <a:ext cx="0" cy="69392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120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902</Words>
  <Application>Microsoft Office PowerPoint</Application>
  <PresentationFormat>Widescreen</PresentationFormat>
  <Paragraphs>108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Parimal</dc:creator>
  <cp:lastModifiedBy>Prince Parimal</cp:lastModifiedBy>
  <cp:revision>5</cp:revision>
  <dcterms:created xsi:type="dcterms:W3CDTF">2025-10-29T20:52:54Z</dcterms:created>
  <dcterms:modified xsi:type="dcterms:W3CDTF">2025-11-01T21:43:12Z</dcterms:modified>
</cp:coreProperties>
</file>